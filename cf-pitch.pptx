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CF INDUSTRIES (NYSE: CF)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4D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FERTILIZER SHOCK TRADE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999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second-order beneficiary of the Strait of Hormuz closure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999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that Wall Street has completely failed to price.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3474720"/>
            <a:ext cx="7680960" cy="5486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7033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LONG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$130.53 </a:t>
            </a:r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→  </a:t>
            </a:r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$185 TARGET </a:t>
            </a:r>
            <a:pPr indent="0" marL="0">
              <a:buNone/>
            </a:pPr>
            <a:r>
              <a:rPr lang="en-US" sz="1400" b="1" dirty="0">
                <a:solidFill>
                  <a:srgbClr val="FF4D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+42% UPSIDE </a:t>
            </a:r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|  STOP $108  |  R:R 2.5:1  |  6-12 MO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43891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888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Rizaldy Utomo  |  Public Policy, Analytics, AI Management @ CMU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888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Perplexity Stock Pitch Competition 2026  |  March 31,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CRISIS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32 of Operation Epic Fury. The Strait of Hormuz is shut down.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237744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002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4D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98%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22402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888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STRAIT DISRUPTION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383280" y="1463040"/>
            <a:ext cx="237744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16002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4D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1,900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383280" y="22402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888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VESSELS STRANDED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035040" y="1463040"/>
            <a:ext cx="237744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16002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4D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$105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035040" y="22402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888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BRENT CRUDE (WAS $75)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731520" y="3017520"/>
            <a:ext cx="237744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1546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B4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2/day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731520" y="3794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888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TRANSITS (WAS 138)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383280" y="3017520"/>
            <a:ext cx="237744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31546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B4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20,000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3383280" y="3794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888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SEAFARERS TRAPPED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035040" y="3017520"/>
            <a:ext cx="237744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0" y="31546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B4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$424K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6035040" y="3794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888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RECORD TANKER RATE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31520" y="470916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Source: Lloyd's List, Kpler, Windward, ACLED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CF INDUSTRIES WINS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ABC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COST ADVANTAGE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$2.89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 Natural Gas (Henry Hub)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514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8346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4D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$15+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Global LNG (competitors pay this)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4023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D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5x cost advantage — widest in a decade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097280"/>
            <a:ext cx="27432" cy="32004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4D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SUPPLY SHOCK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120640" y="15087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–"/>
            </a:pPr>
            <a:r>
              <a:rPr lang="en-US" sz="1100" dirty="0">
                <a:solidFill>
                  <a:srgbClr val="CCCC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Qatar declared force majeure at Ras Laffan — 77 mtpa of fertilizer exports halted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120640" y="20574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–"/>
            </a:pPr>
            <a:r>
              <a:rPr lang="en-US" sz="1100" dirty="0">
                <a:solidFill>
                  <a:srgbClr val="CCCC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Global competitors can't get energy at any reasonable price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120640" y="26060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–"/>
            </a:pPr>
            <a:r>
              <a:rPr lang="en-US" sz="1100" dirty="0">
                <a:solidFill>
                  <a:srgbClr val="CCCC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CF uses cheap domestic gas — production unaffected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120640" y="31546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–"/>
            </a:pPr>
            <a:r>
              <a:rPr lang="en-US" sz="1100" dirty="0">
                <a:solidFill>
                  <a:srgbClr val="CCCC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CF fills the gap Qatar left behind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120640" y="37033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–"/>
            </a:pPr>
            <a:r>
              <a:rPr lang="en-US" sz="1100" dirty="0">
                <a:solidFill>
                  <a:srgbClr val="CCCC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Planting season demand surge coming in Q2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WALL STREET IS WRONG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Consensus models assume the crisis resolves quickly. Prediction markets disagree.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71600"/>
          <a:ext cx="76809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017520"/>
                <a:gridCol w="301752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8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WALL STREET THINKS</a:t>
                      </a:r>
                      <a:endParaRPr lang="en-US" sz="8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PREDICTION MARKETS SAY</a:t>
                      </a:r>
                      <a:endParaRPr lang="en-US" sz="8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Hormuz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Reopens by late April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4D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75% still closed through Apr 15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Oil Price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Normalizes to $70-80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4D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52% chance WTI hits $120+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CF FY2026 EPS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$30.77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4D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$38-50 if crisis persists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Fertilizer Prices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Modest increase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4D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Could spike 30-50%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31520" y="3566160"/>
            <a:ext cx="768096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05840" y="3657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4D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05840" y="393192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Polymarket shows 68% probability US forces enter Iran by April 30. Kalshi shows &lt;25% chance of Hormuz reopening by April 15. These are real people betting real money — and their view is dramatically more bearish than what analysts have modeled.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31520" y="470916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Source: Polymarket, Kalshi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CF INDUSTRIES — FUNDAMENTALS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426464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097280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4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$7.1B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600200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REVENUE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2340864" y="1051560"/>
            <a:ext cx="1426464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40864" y="1097280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4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$3.3B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340864" y="1600200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EBITDA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3950208" y="1051560"/>
            <a:ext cx="1426464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50208" y="1097280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4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46.5%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950208" y="1600200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EBITDA MARGIN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5559552" y="1051560"/>
            <a:ext cx="1426464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59552" y="1097280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4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14.6x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559552" y="1600200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P/E RATIO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7168896" y="1051560"/>
            <a:ext cx="1426464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68896" y="1097280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4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$2.0B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168896" y="1600200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CASH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731520" y="2286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PEER COMPARISON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651760"/>
          <a:ext cx="384048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822960"/>
                <a:gridCol w="118872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TICKER</a:t>
                      </a:r>
                      <a:endParaRPr lang="en-US" sz="8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P/E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EBITDA MARGIN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MKT CAP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BC9C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CF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BC9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14.6x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BC9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46.5%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BC9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$20B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NTR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16.1x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22.0%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$36B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MOS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14.7x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18.5%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$8B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LXU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44.5x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12.0%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$1B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5029200" y="2286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ANALYST CONSENSUS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029200" y="2651760"/>
            <a:ext cx="338328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29200" y="27432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HOLD</a:t>
            </a:r>
            <a:endParaRPr lang="en-US" sz="2800" dirty="0"/>
          </a:p>
        </p:txBody>
      </p:sp>
      <p:sp>
        <p:nvSpPr>
          <p:cNvPr id="23" name="Text 20"/>
          <p:cNvSpPr/>
          <p:nvPr/>
        </p:nvSpPr>
        <p:spPr>
          <a:xfrm>
            <a:off x="5029200" y="32004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ratings  |  Avg PT: $115.50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303520" y="36576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Stock trades at $130.53 — above consensus PT.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Analysts haven't modeled a prolonged Hormuz closure.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731520" y="470916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Source: Perplexity Finance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FOUR POSSIBLE FUTURES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BC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Probability-weighted expected return: +30%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1828800" cy="3108960"/>
          </a:xfrm>
          <a:prstGeom prst="rect">
            <a:avLst/>
          </a:prstGeom>
          <a:solidFill>
            <a:srgbClr val="1E1E1E"/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FF3D8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08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3D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BEAR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7830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Quick resolution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21031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731520" y="25146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50" kern="0" dirty="0">
                <a:solidFill>
                  <a:srgbClr val="888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PROBABILITY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868680" y="28346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Oil: $70-80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68680" y="31546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CF EPS: $22-25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34747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CF Price: $95-110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3931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-20%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2743200" y="1371600"/>
            <a:ext cx="1828800" cy="3108960"/>
          </a:xfrm>
          <a:prstGeom prst="rect">
            <a:avLst/>
          </a:prstGeom>
          <a:solidFill>
            <a:srgbClr val="1E1E1E"/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0" y="1371600"/>
            <a:ext cx="1828800" cy="54864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0" y="1508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4D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743200" y="17830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Prolonged partial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743200" y="21031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45%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2743200" y="25146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50" kern="0" dirty="0">
                <a:solidFill>
                  <a:srgbClr val="888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PROBABILITY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2880360" y="28346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Oil: $95-115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880360" y="31546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CF EPS: $35-40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880360" y="34747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CF Price: $155-175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743200" y="3931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+25%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4754880" y="1371600"/>
            <a:ext cx="1828800" cy="3108960"/>
          </a:xfrm>
          <a:prstGeom prst="rect">
            <a:avLst/>
          </a:prstGeom>
          <a:solidFill>
            <a:srgbClr val="1E1E1E"/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1371600"/>
            <a:ext cx="1828800" cy="54864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0" y="1508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BC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BULL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754880" y="17830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Extended closure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54880" y="21031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25%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4754880" y="25146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50" kern="0" dirty="0">
                <a:solidFill>
                  <a:srgbClr val="888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PROBABILITY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4892040" y="28346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Oil: $120-140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92040" y="31546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CF EPS: $42-50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92040" y="34747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CF Price: $185-220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54880" y="3931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+55%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6766560" y="1371600"/>
            <a:ext cx="1828800" cy="3108960"/>
          </a:xfrm>
          <a:prstGeom prst="rect">
            <a:avLst/>
          </a:prstGeom>
          <a:solidFill>
            <a:srgbClr val="1E1E1E"/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766560" y="1371600"/>
            <a:ext cx="1828800" cy="54864"/>
          </a:xfrm>
          <a:prstGeom prst="rect">
            <a:avLst/>
          </a:prstGeom>
          <a:solidFill>
            <a:srgbClr val="2B4CFF"/>
          </a:solidFill>
          <a:ln/>
        </p:spPr>
      </p:sp>
      <p:sp>
        <p:nvSpPr>
          <p:cNvPr id="37" name="Text 35"/>
          <p:cNvSpPr/>
          <p:nvPr/>
        </p:nvSpPr>
        <p:spPr>
          <a:xfrm>
            <a:off x="6766560" y="1508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4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TAIL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766560" y="17830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Dual chokepoint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766560" y="21031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10%</a:t>
            </a:r>
            <a:endParaRPr lang="en-US" sz="2800" dirty="0"/>
          </a:p>
        </p:txBody>
      </p:sp>
      <p:sp>
        <p:nvSpPr>
          <p:cNvPr id="40" name="Text 38"/>
          <p:cNvSpPr/>
          <p:nvPr/>
        </p:nvSpPr>
        <p:spPr>
          <a:xfrm>
            <a:off x="6766560" y="25146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50" kern="0" dirty="0">
                <a:solidFill>
                  <a:srgbClr val="888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PROBABILITY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6903720" y="28346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Oil: $140-170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903720" y="31546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CF EPS: $50-60+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903720" y="34747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CF Price: $220-280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766560" y="3931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+90%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 MANAGEMENT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457200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97280"/>
            <a:ext cx="2560320" cy="45720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5" name="Shape 3"/>
          <p:cNvSpPr/>
          <p:nvPr/>
        </p:nvSpPr>
        <p:spPr>
          <a:xfrm>
            <a:off x="4937760" y="1097280"/>
            <a:ext cx="3474720" cy="45720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002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 $108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474720" y="16002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NOW $130.53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040880" y="16002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 $185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2103120"/>
            <a:ext cx="237744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1488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-17%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31520" y="2606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MAX DOWNSIDE (STOP LOSS)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3383280" y="2103120"/>
            <a:ext cx="237744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21488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B4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2.5:1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383280" y="2606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RISK-REWARD RATIO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6035040" y="2103120"/>
            <a:ext cx="237744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1ABC9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21488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+42%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035040" y="2606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UPSIDE TO TARGET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731520" y="3291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KILL CONDITIONS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36118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100" dirty="0">
                <a:solidFill>
                  <a:srgbClr val="888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Rapid Hormuz reopening by April 15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390448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100" dirty="0">
                <a:solidFill>
                  <a:srgbClr val="888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 natural gas spikes above $6/MMBtu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419709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100" dirty="0">
                <a:solidFill>
                  <a:srgbClr val="888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Global recession (-15%+ fertilizer demand)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4489704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100" dirty="0">
                <a:solidFill>
                  <a:srgbClr val="888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CF operational disruption (plant outage)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CATALYST CALENDAR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05840"/>
          <a:ext cx="76809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5303520"/>
                <a:gridCol w="128016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DATE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EVENT</a:t>
                      </a:r>
                      <a:endParaRPr lang="en-US" sz="8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IMPACT</a:t>
                      </a:r>
                      <a:endParaRPr lang="en-US" sz="8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Apr 6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Trump deadline: Iran deal or strikes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B4C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HIGH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Apr 10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March CPI — first data with oil spike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888888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MEDIUM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Apr 15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Hormuz reopening checkpoint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B4C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HIGH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Apr 19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OFAC Iran sanctions waiver expires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B4C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HIGH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May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CF Q1 earnings — first Hormuz quarter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4D0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CRITICAL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May-Jun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Peak N. Hemisphere planting season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B4C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HIGH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major catalyst falls within our 6-12 month timeframe.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 earnings in May will be the first hard proof of the Hormuz premium.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TRADE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LONG CF  </a:t>
            </a:r>
            <a:pPr indent="0" marL="0">
              <a:buNone/>
            </a:pPr>
            <a:r>
              <a:rPr lang="en-US" sz="20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@  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$130.53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Target: </a:t>
            </a:r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$185 (+42%)</a:t>
            </a:r>
            <a:pPr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Stop: </a:t>
            </a:r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$108 (-17%)</a:t>
            </a:r>
            <a:pPr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R:R: </a:t>
            </a:r>
            <a:pPr indent="0" marL="0">
              <a:buNone/>
            </a:pPr>
            <a:r>
              <a:rPr lang="en-US" sz="1600" b="1" dirty="0">
                <a:solidFill>
                  <a:srgbClr val="FF4D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2.5:1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743200"/>
            <a:ext cx="7680960" cy="2743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9260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CF Industries is a second-order beneficiary of the Hormuz closure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that consensus has failed to price. The cost advantage is real,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supply disruption is confirmed, and the catalysts are imminent.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9319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D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Expected return: +30% (probability-weighted)    |    Conviction: HIGH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44805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Rizaldy Utomo  |  Carnegie Mellon University  |  Built with Perplexity Computer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2026-03-31T21:39:03Z</dcterms:created>
  <dcterms:modified xsi:type="dcterms:W3CDTF">2026-03-31T21:39:03Z</dcterms:modified>
</cp:coreProperties>
</file>